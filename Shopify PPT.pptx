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F13"/>
    <a:srgbClr val="2C451B"/>
    <a:srgbClr val="88BC64"/>
    <a:srgbClr val="5E8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2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9D804C-A0BD-448F-A1DA-90D2A367461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F2DDA4-BC65-4A45-AB98-7ADE31506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Provide a </a:t>
          </a:r>
          <a:r>
            <a:rPr lang="en-US" b="1" i="0" baseline="0"/>
            <a:t>dedicated page</a:t>
          </a:r>
          <a:r>
            <a:rPr lang="en-US" b="0" i="0" baseline="0"/>
            <a:t> to display transaction-level or detailed data.</a:t>
          </a:r>
          <a:endParaRPr lang="en-US"/>
        </a:p>
      </dgm:t>
    </dgm:pt>
    <dgm:pt modelId="{315C7296-BA30-480A-8451-2C990E1160FF}" type="parTrans" cxnId="{4BAAABF8-B2A6-4D15-A5B8-453C290AEB2C}">
      <dgm:prSet/>
      <dgm:spPr/>
      <dgm:t>
        <a:bodyPr/>
        <a:lstStyle/>
        <a:p>
          <a:endParaRPr lang="en-US"/>
        </a:p>
      </dgm:t>
    </dgm:pt>
    <dgm:pt modelId="{B572A3AD-482C-4108-A6BD-23098F0346CA}" type="sibTrans" cxnId="{4BAAABF8-B2A6-4D15-A5B8-453C290AEB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B7A346-F1BE-4B36-AE8E-DD801A745F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Allow users to </a:t>
          </a:r>
          <a:r>
            <a:rPr lang="en-US" b="1" i="0" baseline="0"/>
            <a:t>drill through</a:t>
          </a:r>
          <a:r>
            <a:rPr lang="en-US" b="0" i="0" baseline="0"/>
            <a:t> from summary visuals (like charts and KPIs) to see underlying records.</a:t>
          </a:r>
          <a:endParaRPr lang="en-US"/>
        </a:p>
      </dgm:t>
    </dgm:pt>
    <dgm:pt modelId="{E0FF34CE-6AD5-48B8-9222-14C46D63A260}" type="parTrans" cxnId="{91D3A7A3-A569-450D-B44D-30B554826B7D}">
      <dgm:prSet/>
      <dgm:spPr/>
      <dgm:t>
        <a:bodyPr/>
        <a:lstStyle/>
        <a:p>
          <a:endParaRPr lang="en-US"/>
        </a:p>
      </dgm:t>
    </dgm:pt>
    <dgm:pt modelId="{D9E55C38-2E2D-4CD6-9CAC-BA9500E7024B}" type="sibTrans" cxnId="{91D3A7A3-A569-450D-B44D-30B554826B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8A81E1-3F07-4041-BABA-EB56617D0A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Enable users to explore data at a </a:t>
          </a:r>
          <a:r>
            <a:rPr lang="en-US" b="1" i="0" baseline="0"/>
            <a:t>granular level</a:t>
          </a:r>
          <a:r>
            <a:rPr lang="en-US" b="0" i="0" baseline="0"/>
            <a:t>, such as individual orders, customers, or product types.</a:t>
          </a:r>
          <a:endParaRPr lang="en-US"/>
        </a:p>
      </dgm:t>
    </dgm:pt>
    <dgm:pt modelId="{15E928C4-8C40-4402-A84F-18D7209413FA}" type="parTrans" cxnId="{FCBF7AD8-5AE8-432F-AFD9-27663F811756}">
      <dgm:prSet/>
      <dgm:spPr/>
      <dgm:t>
        <a:bodyPr/>
        <a:lstStyle/>
        <a:p>
          <a:endParaRPr lang="en-US"/>
        </a:p>
      </dgm:t>
    </dgm:pt>
    <dgm:pt modelId="{FF5E8B36-5EBA-46F6-A44C-87B94BC9858B}" type="sibTrans" cxnId="{FCBF7AD8-5AE8-432F-AFD9-27663F8117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268702A-A9D8-474C-BE3E-AD1C7D6DB0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Help explain </a:t>
          </a:r>
          <a:r>
            <a:rPr lang="en-US" b="1" i="0" baseline="0"/>
            <a:t>summary trends</a:t>
          </a:r>
          <a:r>
            <a:rPr lang="en-US" b="0" i="0" baseline="0"/>
            <a:t> and </a:t>
          </a:r>
          <a:r>
            <a:rPr lang="en-US" b="1" i="0" baseline="0"/>
            <a:t>validate aggregated metrics</a:t>
          </a:r>
          <a:r>
            <a:rPr lang="en-US" b="0" i="0" baseline="0"/>
            <a:t> with raw data.</a:t>
          </a:r>
          <a:endParaRPr lang="en-US"/>
        </a:p>
      </dgm:t>
    </dgm:pt>
    <dgm:pt modelId="{860B0FDC-626E-454C-86BE-D605B33CCFB0}" type="parTrans" cxnId="{9B4ADC44-5262-4205-B6E0-E7298E5C8E5D}">
      <dgm:prSet/>
      <dgm:spPr/>
      <dgm:t>
        <a:bodyPr/>
        <a:lstStyle/>
        <a:p>
          <a:endParaRPr lang="en-US"/>
        </a:p>
      </dgm:t>
    </dgm:pt>
    <dgm:pt modelId="{C8D201D3-DC7D-43BA-82A1-69AEB1237D3B}" type="sibTrans" cxnId="{9B4ADC44-5262-4205-B6E0-E7298E5C8E5D}">
      <dgm:prSet/>
      <dgm:spPr/>
      <dgm:t>
        <a:bodyPr/>
        <a:lstStyle/>
        <a:p>
          <a:endParaRPr lang="en-US"/>
        </a:p>
      </dgm:t>
    </dgm:pt>
    <dgm:pt modelId="{8F65FF31-172E-49F9-B1E2-3C22D2C45EA7}" type="pres">
      <dgm:prSet presAssocID="{419D804C-A0BD-448F-A1DA-90D2A367461A}" presName="root" presStyleCnt="0">
        <dgm:presLayoutVars>
          <dgm:dir/>
          <dgm:resizeHandles val="exact"/>
        </dgm:presLayoutVars>
      </dgm:prSet>
      <dgm:spPr/>
    </dgm:pt>
    <dgm:pt modelId="{4C52BDB0-1A87-4997-B284-8AC3D0F8F3BC}" type="pres">
      <dgm:prSet presAssocID="{419D804C-A0BD-448F-A1DA-90D2A367461A}" presName="container" presStyleCnt="0">
        <dgm:presLayoutVars>
          <dgm:dir/>
          <dgm:resizeHandles val="exact"/>
        </dgm:presLayoutVars>
      </dgm:prSet>
      <dgm:spPr/>
    </dgm:pt>
    <dgm:pt modelId="{87F0AAC3-F826-4399-BEEC-0655F8A3EF32}" type="pres">
      <dgm:prSet presAssocID="{95F2DDA4-BC65-4A45-AB98-7ADE31506FA2}" presName="compNode" presStyleCnt="0"/>
      <dgm:spPr/>
    </dgm:pt>
    <dgm:pt modelId="{1EF9E772-06D6-47D6-9F80-6CF9499CE802}" type="pres">
      <dgm:prSet presAssocID="{95F2DDA4-BC65-4A45-AB98-7ADE31506FA2}" presName="iconBgRect" presStyleLbl="bgShp" presStyleIdx="0" presStyleCnt="4"/>
      <dgm:spPr/>
    </dgm:pt>
    <dgm:pt modelId="{E7FF6AB7-92F4-4290-BCFA-319C46F31BE5}" type="pres">
      <dgm:prSet presAssocID="{95F2DDA4-BC65-4A45-AB98-7ADE31506F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1818F317-C5C7-4796-9AB8-3FC7AD255948}" type="pres">
      <dgm:prSet presAssocID="{95F2DDA4-BC65-4A45-AB98-7ADE31506FA2}" presName="spaceRect" presStyleCnt="0"/>
      <dgm:spPr/>
    </dgm:pt>
    <dgm:pt modelId="{76012B13-05EA-411B-8011-DB854EC5898E}" type="pres">
      <dgm:prSet presAssocID="{95F2DDA4-BC65-4A45-AB98-7ADE31506FA2}" presName="textRect" presStyleLbl="revTx" presStyleIdx="0" presStyleCnt="4">
        <dgm:presLayoutVars>
          <dgm:chMax val="1"/>
          <dgm:chPref val="1"/>
        </dgm:presLayoutVars>
      </dgm:prSet>
      <dgm:spPr/>
    </dgm:pt>
    <dgm:pt modelId="{D19FDCDF-0D2E-46EE-9F19-AE33B2A06517}" type="pres">
      <dgm:prSet presAssocID="{B572A3AD-482C-4108-A6BD-23098F0346CA}" presName="sibTrans" presStyleLbl="sibTrans2D1" presStyleIdx="0" presStyleCnt="0"/>
      <dgm:spPr/>
    </dgm:pt>
    <dgm:pt modelId="{6A585AA8-4099-432F-8F29-A6310BEF9634}" type="pres">
      <dgm:prSet presAssocID="{FDB7A346-F1BE-4B36-AE8E-DD801A745F1A}" presName="compNode" presStyleCnt="0"/>
      <dgm:spPr/>
    </dgm:pt>
    <dgm:pt modelId="{A1E7E83A-039F-4919-84E5-859EAC36B8EB}" type="pres">
      <dgm:prSet presAssocID="{FDB7A346-F1BE-4B36-AE8E-DD801A745F1A}" presName="iconBgRect" presStyleLbl="bgShp" presStyleIdx="1" presStyleCnt="4"/>
      <dgm:spPr/>
    </dgm:pt>
    <dgm:pt modelId="{F27A4899-EDBD-4256-9FFF-01F4871CB6A4}" type="pres">
      <dgm:prSet presAssocID="{FDB7A346-F1BE-4B36-AE8E-DD801A745F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2AA9D3C-19E1-486F-9CDB-95C8FAA13F12}" type="pres">
      <dgm:prSet presAssocID="{FDB7A346-F1BE-4B36-AE8E-DD801A745F1A}" presName="spaceRect" presStyleCnt="0"/>
      <dgm:spPr/>
    </dgm:pt>
    <dgm:pt modelId="{4FDFDD98-90B1-4135-9DC3-4654A53EB51B}" type="pres">
      <dgm:prSet presAssocID="{FDB7A346-F1BE-4B36-AE8E-DD801A745F1A}" presName="textRect" presStyleLbl="revTx" presStyleIdx="1" presStyleCnt="4">
        <dgm:presLayoutVars>
          <dgm:chMax val="1"/>
          <dgm:chPref val="1"/>
        </dgm:presLayoutVars>
      </dgm:prSet>
      <dgm:spPr/>
    </dgm:pt>
    <dgm:pt modelId="{0D4011E9-3E1C-4687-B77B-5FFCFC4A3356}" type="pres">
      <dgm:prSet presAssocID="{D9E55C38-2E2D-4CD6-9CAC-BA9500E7024B}" presName="sibTrans" presStyleLbl="sibTrans2D1" presStyleIdx="0" presStyleCnt="0"/>
      <dgm:spPr/>
    </dgm:pt>
    <dgm:pt modelId="{363EBE51-D22E-4CBE-A92F-10E42B6ABA95}" type="pres">
      <dgm:prSet presAssocID="{BC8A81E1-3F07-4041-BABA-EB56617D0A50}" presName="compNode" presStyleCnt="0"/>
      <dgm:spPr/>
    </dgm:pt>
    <dgm:pt modelId="{2C10FF75-FC0E-4060-AB8B-86EECD41126F}" type="pres">
      <dgm:prSet presAssocID="{BC8A81E1-3F07-4041-BABA-EB56617D0A50}" presName="iconBgRect" presStyleLbl="bgShp" presStyleIdx="2" presStyleCnt="4"/>
      <dgm:spPr/>
    </dgm:pt>
    <dgm:pt modelId="{459B82D3-D5D8-42D2-80C9-8DFC3156343E}" type="pres">
      <dgm:prSet presAssocID="{BC8A81E1-3F07-4041-BABA-EB56617D0A5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694BB2D-1F5C-413C-A77D-026453037C08}" type="pres">
      <dgm:prSet presAssocID="{BC8A81E1-3F07-4041-BABA-EB56617D0A50}" presName="spaceRect" presStyleCnt="0"/>
      <dgm:spPr/>
    </dgm:pt>
    <dgm:pt modelId="{F56350DD-9242-4657-A09D-1611FD6D7A28}" type="pres">
      <dgm:prSet presAssocID="{BC8A81E1-3F07-4041-BABA-EB56617D0A50}" presName="textRect" presStyleLbl="revTx" presStyleIdx="2" presStyleCnt="4">
        <dgm:presLayoutVars>
          <dgm:chMax val="1"/>
          <dgm:chPref val="1"/>
        </dgm:presLayoutVars>
      </dgm:prSet>
      <dgm:spPr/>
    </dgm:pt>
    <dgm:pt modelId="{9608C0F6-7D94-48F8-AE9E-9E5171A5747B}" type="pres">
      <dgm:prSet presAssocID="{FF5E8B36-5EBA-46F6-A44C-87B94BC9858B}" presName="sibTrans" presStyleLbl="sibTrans2D1" presStyleIdx="0" presStyleCnt="0"/>
      <dgm:spPr/>
    </dgm:pt>
    <dgm:pt modelId="{832F1FA2-143B-4351-842B-E05D40EEE4CD}" type="pres">
      <dgm:prSet presAssocID="{F268702A-A9D8-474C-BE3E-AD1C7D6DB0EA}" presName="compNode" presStyleCnt="0"/>
      <dgm:spPr/>
    </dgm:pt>
    <dgm:pt modelId="{25302EE3-556F-4889-81E5-74721C8F4329}" type="pres">
      <dgm:prSet presAssocID="{F268702A-A9D8-474C-BE3E-AD1C7D6DB0EA}" presName="iconBgRect" presStyleLbl="bgShp" presStyleIdx="3" presStyleCnt="4"/>
      <dgm:spPr/>
    </dgm:pt>
    <dgm:pt modelId="{FEF33DEC-0C2E-4E11-AD22-30A9A50D0D3F}" type="pres">
      <dgm:prSet presAssocID="{F268702A-A9D8-474C-BE3E-AD1C7D6DB0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961BE1F-7905-4498-A132-DDC542E7AC09}" type="pres">
      <dgm:prSet presAssocID="{F268702A-A9D8-474C-BE3E-AD1C7D6DB0EA}" presName="spaceRect" presStyleCnt="0"/>
      <dgm:spPr/>
    </dgm:pt>
    <dgm:pt modelId="{0CBDD2AB-FF0B-4CC8-B06F-BFC08627D952}" type="pres">
      <dgm:prSet presAssocID="{F268702A-A9D8-474C-BE3E-AD1C7D6DB0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DE88A23-B386-4C47-991D-7EE0F6480F56}" type="presOf" srcId="{FDB7A346-F1BE-4B36-AE8E-DD801A745F1A}" destId="{4FDFDD98-90B1-4135-9DC3-4654A53EB51B}" srcOrd="0" destOrd="0" presId="urn:microsoft.com/office/officeart/2018/2/layout/IconCircleList"/>
    <dgm:cxn modelId="{05B29535-E805-4DFA-B2D6-F56433EC8550}" type="presOf" srcId="{D9E55C38-2E2D-4CD6-9CAC-BA9500E7024B}" destId="{0D4011E9-3E1C-4687-B77B-5FFCFC4A3356}" srcOrd="0" destOrd="0" presId="urn:microsoft.com/office/officeart/2018/2/layout/IconCircleList"/>
    <dgm:cxn modelId="{78F5BE35-7425-4CBB-B7C3-886828604239}" type="presOf" srcId="{419D804C-A0BD-448F-A1DA-90D2A367461A}" destId="{8F65FF31-172E-49F9-B1E2-3C22D2C45EA7}" srcOrd="0" destOrd="0" presId="urn:microsoft.com/office/officeart/2018/2/layout/IconCircleList"/>
    <dgm:cxn modelId="{69C2293D-9672-4EA3-80F0-901824784CDD}" type="presOf" srcId="{F268702A-A9D8-474C-BE3E-AD1C7D6DB0EA}" destId="{0CBDD2AB-FF0B-4CC8-B06F-BFC08627D952}" srcOrd="0" destOrd="0" presId="urn:microsoft.com/office/officeart/2018/2/layout/IconCircleList"/>
    <dgm:cxn modelId="{3F23115E-52DF-4A50-8706-100F8CD538B5}" type="presOf" srcId="{B572A3AD-482C-4108-A6BD-23098F0346CA}" destId="{D19FDCDF-0D2E-46EE-9F19-AE33B2A06517}" srcOrd="0" destOrd="0" presId="urn:microsoft.com/office/officeart/2018/2/layout/IconCircleList"/>
    <dgm:cxn modelId="{9B4ADC44-5262-4205-B6E0-E7298E5C8E5D}" srcId="{419D804C-A0BD-448F-A1DA-90D2A367461A}" destId="{F268702A-A9D8-474C-BE3E-AD1C7D6DB0EA}" srcOrd="3" destOrd="0" parTransId="{860B0FDC-626E-454C-86BE-D605B33CCFB0}" sibTransId="{C8D201D3-DC7D-43BA-82A1-69AEB1237D3B}"/>
    <dgm:cxn modelId="{B9A38897-E87D-4E4D-9DB5-6D452DFD1F5E}" type="presOf" srcId="{FF5E8B36-5EBA-46F6-A44C-87B94BC9858B}" destId="{9608C0F6-7D94-48F8-AE9E-9E5171A5747B}" srcOrd="0" destOrd="0" presId="urn:microsoft.com/office/officeart/2018/2/layout/IconCircleList"/>
    <dgm:cxn modelId="{C75575A2-557C-42FD-B3A1-F4AB101E72E7}" type="presOf" srcId="{BC8A81E1-3F07-4041-BABA-EB56617D0A50}" destId="{F56350DD-9242-4657-A09D-1611FD6D7A28}" srcOrd="0" destOrd="0" presId="urn:microsoft.com/office/officeart/2018/2/layout/IconCircleList"/>
    <dgm:cxn modelId="{91D3A7A3-A569-450D-B44D-30B554826B7D}" srcId="{419D804C-A0BD-448F-A1DA-90D2A367461A}" destId="{FDB7A346-F1BE-4B36-AE8E-DD801A745F1A}" srcOrd="1" destOrd="0" parTransId="{E0FF34CE-6AD5-48B8-9222-14C46D63A260}" sibTransId="{D9E55C38-2E2D-4CD6-9CAC-BA9500E7024B}"/>
    <dgm:cxn modelId="{FCBF7AD8-5AE8-432F-AFD9-27663F811756}" srcId="{419D804C-A0BD-448F-A1DA-90D2A367461A}" destId="{BC8A81E1-3F07-4041-BABA-EB56617D0A50}" srcOrd="2" destOrd="0" parTransId="{15E928C4-8C40-4402-A84F-18D7209413FA}" sibTransId="{FF5E8B36-5EBA-46F6-A44C-87B94BC9858B}"/>
    <dgm:cxn modelId="{BC10CFDF-F66E-4419-833F-8A24022B6CC1}" type="presOf" srcId="{95F2DDA4-BC65-4A45-AB98-7ADE31506FA2}" destId="{76012B13-05EA-411B-8011-DB854EC5898E}" srcOrd="0" destOrd="0" presId="urn:microsoft.com/office/officeart/2018/2/layout/IconCircleList"/>
    <dgm:cxn modelId="{4BAAABF8-B2A6-4D15-A5B8-453C290AEB2C}" srcId="{419D804C-A0BD-448F-A1DA-90D2A367461A}" destId="{95F2DDA4-BC65-4A45-AB98-7ADE31506FA2}" srcOrd="0" destOrd="0" parTransId="{315C7296-BA30-480A-8451-2C990E1160FF}" sibTransId="{B572A3AD-482C-4108-A6BD-23098F0346CA}"/>
    <dgm:cxn modelId="{81EA81D5-E2BE-40B2-951A-F924A67A4890}" type="presParOf" srcId="{8F65FF31-172E-49F9-B1E2-3C22D2C45EA7}" destId="{4C52BDB0-1A87-4997-B284-8AC3D0F8F3BC}" srcOrd="0" destOrd="0" presId="urn:microsoft.com/office/officeart/2018/2/layout/IconCircleList"/>
    <dgm:cxn modelId="{6A0C7CE7-F497-44CE-8A01-9857D7B54210}" type="presParOf" srcId="{4C52BDB0-1A87-4997-B284-8AC3D0F8F3BC}" destId="{87F0AAC3-F826-4399-BEEC-0655F8A3EF32}" srcOrd="0" destOrd="0" presId="urn:microsoft.com/office/officeart/2018/2/layout/IconCircleList"/>
    <dgm:cxn modelId="{86F0EE94-63BA-4AA8-9B56-AD61A3FF051A}" type="presParOf" srcId="{87F0AAC3-F826-4399-BEEC-0655F8A3EF32}" destId="{1EF9E772-06D6-47D6-9F80-6CF9499CE802}" srcOrd="0" destOrd="0" presId="urn:microsoft.com/office/officeart/2018/2/layout/IconCircleList"/>
    <dgm:cxn modelId="{5A71BA0F-74C4-4D7C-A85A-A5AB208A381B}" type="presParOf" srcId="{87F0AAC3-F826-4399-BEEC-0655F8A3EF32}" destId="{E7FF6AB7-92F4-4290-BCFA-319C46F31BE5}" srcOrd="1" destOrd="0" presId="urn:microsoft.com/office/officeart/2018/2/layout/IconCircleList"/>
    <dgm:cxn modelId="{128052BC-8A95-4BF5-8A89-7C83A83A6C38}" type="presParOf" srcId="{87F0AAC3-F826-4399-BEEC-0655F8A3EF32}" destId="{1818F317-C5C7-4796-9AB8-3FC7AD255948}" srcOrd="2" destOrd="0" presId="urn:microsoft.com/office/officeart/2018/2/layout/IconCircleList"/>
    <dgm:cxn modelId="{7F4A67B5-058E-42A1-A2EE-9DEE952DD968}" type="presParOf" srcId="{87F0AAC3-F826-4399-BEEC-0655F8A3EF32}" destId="{76012B13-05EA-411B-8011-DB854EC5898E}" srcOrd="3" destOrd="0" presId="urn:microsoft.com/office/officeart/2018/2/layout/IconCircleList"/>
    <dgm:cxn modelId="{8A40D1C4-A4EE-4E55-BD03-5C827F715D1E}" type="presParOf" srcId="{4C52BDB0-1A87-4997-B284-8AC3D0F8F3BC}" destId="{D19FDCDF-0D2E-46EE-9F19-AE33B2A06517}" srcOrd="1" destOrd="0" presId="urn:microsoft.com/office/officeart/2018/2/layout/IconCircleList"/>
    <dgm:cxn modelId="{15260D64-4879-43A1-B690-76CBD665671F}" type="presParOf" srcId="{4C52BDB0-1A87-4997-B284-8AC3D0F8F3BC}" destId="{6A585AA8-4099-432F-8F29-A6310BEF9634}" srcOrd="2" destOrd="0" presId="urn:microsoft.com/office/officeart/2018/2/layout/IconCircleList"/>
    <dgm:cxn modelId="{22B4796B-0739-42CB-92EE-5FAEABB7DF3F}" type="presParOf" srcId="{6A585AA8-4099-432F-8F29-A6310BEF9634}" destId="{A1E7E83A-039F-4919-84E5-859EAC36B8EB}" srcOrd="0" destOrd="0" presId="urn:microsoft.com/office/officeart/2018/2/layout/IconCircleList"/>
    <dgm:cxn modelId="{27BAD11F-03FF-4E97-A2CA-40D9348D3B2B}" type="presParOf" srcId="{6A585AA8-4099-432F-8F29-A6310BEF9634}" destId="{F27A4899-EDBD-4256-9FFF-01F4871CB6A4}" srcOrd="1" destOrd="0" presId="urn:microsoft.com/office/officeart/2018/2/layout/IconCircleList"/>
    <dgm:cxn modelId="{E04A465A-839C-430B-8D94-6D53898CE9A8}" type="presParOf" srcId="{6A585AA8-4099-432F-8F29-A6310BEF9634}" destId="{62AA9D3C-19E1-486F-9CDB-95C8FAA13F12}" srcOrd="2" destOrd="0" presId="urn:microsoft.com/office/officeart/2018/2/layout/IconCircleList"/>
    <dgm:cxn modelId="{0B879D5C-54D2-44B4-9B54-6696E004F87A}" type="presParOf" srcId="{6A585AA8-4099-432F-8F29-A6310BEF9634}" destId="{4FDFDD98-90B1-4135-9DC3-4654A53EB51B}" srcOrd="3" destOrd="0" presId="urn:microsoft.com/office/officeart/2018/2/layout/IconCircleList"/>
    <dgm:cxn modelId="{4363D5C9-62F2-4687-BD3E-83019BB0B22C}" type="presParOf" srcId="{4C52BDB0-1A87-4997-B284-8AC3D0F8F3BC}" destId="{0D4011E9-3E1C-4687-B77B-5FFCFC4A3356}" srcOrd="3" destOrd="0" presId="urn:microsoft.com/office/officeart/2018/2/layout/IconCircleList"/>
    <dgm:cxn modelId="{EBA1E0EA-BFB3-46A5-A7DC-26495CE49586}" type="presParOf" srcId="{4C52BDB0-1A87-4997-B284-8AC3D0F8F3BC}" destId="{363EBE51-D22E-4CBE-A92F-10E42B6ABA95}" srcOrd="4" destOrd="0" presId="urn:microsoft.com/office/officeart/2018/2/layout/IconCircleList"/>
    <dgm:cxn modelId="{FC3A132E-CF80-4851-96E0-3F2F705B4A81}" type="presParOf" srcId="{363EBE51-D22E-4CBE-A92F-10E42B6ABA95}" destId="{2C10FF75-FC0E-4060-AB8B-86EECD41126F}" srcOrd="0" destOrd="0" presId="urn:microsoft.com/office/officeart/2018/2/layout/IconCircleList"/>
    <dgm:cxn modelId="{B9A7CF09-724A-48B1-B67E-88AAB8D08F5D}" type="presParOf" srcId="{363EBE51-D22E-4CBE-A92F-10E42B6ABA95}" destId="{459B82D3-D5D8-42D2-80C9-8DFC3156343E}" srcOrd="1" destOrd="0" presId="urn:microsoft.com/office/officeart/2018/2/layout/IconCircleList"/>
    <dgm:cxn modelId="{22C115D4-F57C-42D7-AF2B-C3D5CF77C118}" type="presParOf" srcId="{363EBE51-D22E-4CBE-A92F-10E42B6ABA95}" destId="{F694BB2D-1F5C-413C-A77D-026453037C08}" srcOrd="2" destOrd="0" presId="urn:microsoft.com/office/officeart/2018/2/layout/IconCircleList"/>
    <dgm:cxn modelId="{3B895628-A3F6-4EA8-A205-D2E2265E613F}" type="presParOf" srcId="{363EBE51-D22E-4CBE-A92F-10E42B6ABA95}" destId="{F56350DD-9242-4657-A09D-1611FD6D7A28}" srcOrd="3" destOrd="0" presId="urn:microsoft.com/office/officeart/2018/2/layout/IconCircleList"/>
    <dgm:cxn modelId="{A769D936-2A6D-4367-9541-A018818B2E96}" type="presParOf" srcId="{4C52BDB0-1A87-4997-B284-8AC3D0F8F3BC}" destId="{9608C0F6-7D94-48F8-AE9E-9E5171A5747B}" srcOrd="5" destOrd="0" presId="urn:microsoft.com/office/officeart/2018/2/layout/IconCircleList"/>
    <dgm:cxn modelId="{4B2B32C9-7B69-4CB5-A79E-A6EF29863997}" type="presParOf" srcId="{4C52BDB0-1A87-4997-B284-8AC3D0F8F3BC}" destId="{832F1FA2-143B-4351-842B-E05D40EEE4CD}" srcOrd="6" destOrd="0" presId="urn:microsoft.com/office/officeart/2018/2/layout/IconCircleList"/>
    <dgm:cxn modelId="{1B4DF295-1556-4F46-8076-0572D573A8A9}" type="presParOf" srcId="{832F1FA2-143B-4351-842B-E05D40EEE4CD}" destId="{25302EE3-556F-4889-81E5-74721C8F4329}" srcOrd="0" destOrd="0" presId="urn:microsoft.com/office/officeart/2018/2/layout/IconCircleList"/>
    <dgm:cxn modelId="{679A9A48-DE87-40CD-91B4-2132798122FA}" type="presParOf" srcId="{832F1FA2-143B-4351-842B-E05D40EEE4CD}" destId="{FEF33DEC-0C2E-4E11-AD22-30A9A50D0D3F}" srcOrd="1" destOrd="0" presId="urn:microsoft.com/office/officeart/2018/2/layout/IconCircleList"/>
    <dgm:cxn modelId="{B94F18E7-F6AC-42F9-B818-BC1662C2819E}" type="presParOf" srcId="{832F1FA2-143B-4351-842B-E05D40EEE4CD}" destId="{8961BE1F-7905-4498-A132-DDC542E7AC09}" srcOrd="2" destOrd="0" presId="urn:microsoft.com/office/officeart/2018/2/layout/IconCircleList"/>
    <dgm:cxn modelId="{23E9F747-E763-44A2-926A-37DC736D58CC}" type="presParOf" srcId="{832F1FA2-143B-4351-842B-E05D40EEE4CD}" destId="{0CBDD2AB-FF0B-4CC8-B06F-BFC08627D9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9E772-06D6-47D6-9F80-6CF9499CE802}">
      <dsp:nvSpPr>
        <dsp:cNvPr id="0" name=""/>
        <dsp:cNvSpPr/>
      </dsp:nvSpPr>
      <dsp:spPr>
        <a:xfrm>
          <a:off x="263019" y="509875"/>
          <a:ext cx="683279" cy="683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F6AB7-92F4-4290-BCFA-319C46F31BE5}">
      <dsp:nvSpPr>
        <dsp:cNvPr id="0" name=""/>
        <dsp:cNvSpPr/>
      </dsp:nvSpPr>
      <dsp:spPr>
        <a:xfrm>
          <a:off x="406508" y="653363"/>
          <a:ext cx="396302" cy="3963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12B13-05EA-411B-8011-DB854EC5898E}">
      <dsp:nvSpPr>
        <dsp:cNvPr id="0" name=""/>
        <dsp:cNvSpPr/>
      </dsp:nvSpPr>
      <dsp:spPr>
        <a:xfrm>
          <a:off x="1092716" y="509875"/>
          <a:ext cx="1610587" cy="68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Provide a </a:t>
          </a:r>
          <a:r>
            <a:rPr lang="en-US" sz="1100" b="1" i="0" kern="1200" baseline="0"/>
            <a:t>dedicated page</a:t>
          </a:r>
          <a:r>
            <a:rPr lang="en-US" sz="1100" b="0" i="0" kern="1200" baseline="0"/>
            <a:t> to display transaction-level or detailed data.</a:t>
          </a:r>
          <a:endParaRPr lang="en-US" sz="1100" kern="1200"/>
        </a:p>
      </dsp:txBody>
      <dsp:txXfrm>
        <a:off x="1092716" y="509875"/>
        <a:ext cx="1610587" cy="683279"/>
      </dsp:txXfrm>
    </dsp:sp>
    <dsp:sp modelId="{A1E7E83A-039F-4919-84E5-859EAC36B8EB}">
      <dsp:nvSpPr>
        <dsp:cNvPr id="0" name=""/>
        <dsp:cNvSpPr/>
      </dsp:nvSpPr>
      <dsp:spPr>
        <a:xfrm>
          <a:off x="2983935" y="509875"/>
          <a:ext cx="683279" cy="683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A4899-EDBD-4256-9FFF-01F4871CB6A4}">
      <dsp:nvSpPr>
        <dsp:cNvPr id="0" name=""/>
        <dsp:cNvSpPr/>
      </dsp:nvSpPr>
      <dsp:spPr>
        <a:xfrm>
          <a:off x="3127424" y="653363"/>
          <a:ext cx="396302" cy="3963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FDD98-90B1-4135-9DC3-4654A53EB51B}">
      <dsp:nvSpPr>
        <dsp:cNvPr id="0" name=""/>
        <dsp:cNvSpPr/>
      </dsp:nvSpPr>
      <dsp:spPr>
        <a:xfrm>
          <a:off x="3813632" y="509875"/>
          <a:ext cx="1610587" cy="68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Allow users to </a:t>
          </a:r>
          <a:r>
            <a:rPr lang="en-US" sz="1100" b="1" i="0" kern="1200" baseline="0"/>
            <a:t>drill through</a:t>
          </a:r>
          <a:r>
            <a:rPr lang="en-US" sz="1100" b="0" i="0" kern="1200" baseline="0"/>
            <a:t> from summary visuals (like charts and KPIs) to see underlying records.</a:t>
          </a:r>
          <a:endParaRPr lang="en-US" sz="1100" kern="1200"/>
        </a:p>
      </dsp:txBody>
      <dsp:txXfrm>
        <a:off x="3813632" y="509875"/>
        <a:ext cx="1610587" cy="683279"/>
      </dsp:txXfrm>
    </dsp:sp>
    <dsp:sp modelId="{2C10FF75-FC0E-4060-AB8B-86EECD41126F}">
      <dsp:nvSpPr>
        <dsp:cNvPr id="0" name=""/>
        <dsp:cNvSpPr/>
      </dsp:nvSpPr>
      <dsp:spPr>
        <a:xfrm>
          <a:off x="5704851" y="509875"/>
          <a:ext cx="683279" cy="683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B82D3-D5D8-42D2-80C9-8DFC3156343E}">
      <dsp:nvSpPr>
        <dsp:cNvPr id="0" name=""/>
        <dsp:cNvSpPr/>
      </dsp:nvSpPr>
      <dsp:spPr>
        <a:xfrm>
          <a:off x="5848340" y="653363"/>
          <a:ext cx="396302" cy="3963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350DD-9242-4657-A09D-1611FD6D7A28}">
      <dsp:nvSpPr>
        <dsp:cNvPr id="0" name=""/>
        <dsp:cNvSpPr/>
      </dsp:nvSpPr>
      <dsp:spPr>
        <a:xfrm>
          <a:off x="6534548" y="509875"/>
          <a:ext cx="1610587" cy="68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Enable users to explore data at a </a:t>
          </a:r>
          <a:r>
            <a:rPr lang="en-US" sz="1100" b="1" i="0" kern="1200" baseline="0"/>
            <a:t>granular level</a:t>
          </a:r>
          <a:r>
            <a:rPr lang="en-US" sz="1100" b="0" i="0" kern="1200" baseline="0"/>
            <a:t>, such as individual orders, customers, or product types.</a:t>
          </a:r>
          <a:endParaRPr lang="en-US" sz="1100" kern="1200"/>
        </a:p>
      </dsp:txBody>
      <dsp:txXfrm>
        <a:off x="6534548" y="509875"/>
        <a:ext cx="1610587" cy="683279"/>
      </dsp:txXfrm>
    </dsp:sp>
    <dsp:sp modelId="{25302EE3-556F-4889-81E5-74721C8F4329}">
      <dsp:nvSpPr>
        <dsp:cNvPr id="0" name=""/>
        <dsp:cNvSpPr/>
      </dsp:nvSpPr>
      <dsp:spPr>
        <a:xfrm>
          <a:off x="8425767" y="509875"/>
          <a:ext cx="683279" cy="6832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33DEC-0C2E-4E11-AD22-30A9A50D0D3F}">
      <dsp:nvSpPr>
        <dsp:cNvPr id="0" name=""/>
        <dsp:cNvSpPr/>
      </dsp:nvSpPr>
      <dsp:spPr>
        <a:xfrm>
          <a:off x="8569256" y="653363"/>
          <a:ext cx="396302" cy="3963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DD2AB-FF0B-4CC8-B06F-BFC08627D952}">
      <dsp:nvSpPr>
        <dsp:cNvPr id="0" name=""/>
        <dsp:cNvSpPr/>
      </dsp:nvSpPr>
      <dsp:spPr>
        <a:xfrm>
          <a:off x="9255464" y="509875"/>
          <a:ext cx="1610587" cy="68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Help explain </a:t>
          </a:r>
          <a:r>
            <a:rPr lang="en-US" sz="1100" b="1" i="0" kern="1200" baseline="0"/>
            <a:t>summary trends</a:t>
          </a:r>
          <a:r>
            <a:rPr lang="en-US" sz="1100" b="0" i="0" kern="1200" baseline="0"/>
            <a:t> and </a:t>
          </a:r>
          <a:r>
            <a:rPr lang="en-US" sz="1100" b="1" i="0" kern="1200" baseline="0"/>
            <a:t>validate aggregated metrics</a:t>
          </a:r>
          <a:r>
            <a:rPr lang="en-US" sz="1100" b="0" i="0" kern="1200" baseline="0"/>
            <a:t> with raw data.</a:t>
          </a:r>
          <a:endParaRPr lang="en-US" sz="1100" kern="1200"/>
        </a:p>
      </dsp:txBody>
      <dsp:txXfrm>
        <a:off x="9255464" y="509875"/>
        <a:ext cx="1610587" cy="68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B34CF-3EC6-4D1A-AFC0-A0C789294A7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AAC13-C776-43D6-8CC7-640DE669B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9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FCDC-7FA1-68EF-6A97-1B04C17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1A15-FC51-8818-81C6-50D96FDB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4E63-99FE-4A2F-76DB-D225CDF2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E17F2-5CF3-453A-B623-FE4C3A145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367D-D4C9-D067-83BF-4794D10D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FC38E-4A98-6DDA-C371-0C7A40CC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8260-14F6-A518-3CBE-AEFB9C512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DE59-01E9-4A3E-C7A1-8A9B119BF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27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1E1D-2D00-FC5B-AB8A-8627A1BB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2ACF-FE11-9779-BC51-FCFE91DB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ABD68-C5EE-1574-0053-7F0CD436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0465C-E49E-B945-5F1F-225DAC7E1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39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053A-A1D3-4D5D-EE6C-FFC14465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6E95-FB78-AF63-25F0-A2233466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E983F-2274-053A-2405-874FFAB8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0B03-F715-9899-9C12-ADC317AC3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9195-C44F-F7FB-B936-9FB45AD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6C90-9B4B-1290-7A8F-42051B997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3E20-CD3E-7630-14B7-45C9EE9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DD75-00C8-A522-855F-09E6C764A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7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9EF7-EC2D-BA0F-71C7-FEAFA43E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CA394-4D48-2847-0104-DE0D1D852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D922-D30B-4F2D-9650-6F96E3BA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8A85-316A-E170-3615-D1029FAC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9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28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14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0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49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2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87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1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3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58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7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BFD15-DDBD-4FD8-8880-6FE0BBC54D9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63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2F5CF87-99FC-D9F4-5542-39B2A5FB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D528594-6D5F-63FA-6D33-1BC560C9AA55}"/>
              </a:ext>
            </a:extLst>
          </p:cNvPr>
          <p:cNvSpPr txBox="1"/>
          <p:nvPr/>
        </p:nvSpPr>
        <p:spPr>
          <a:xfrm>
            <a:off x="371473" y="93214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298A19-6E81-6290-ABE4-57379240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4446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rgbClr val="1E2F13"/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D07E6E29-7F9E-C658-AF99-47518E36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6D2DA507-3BC2-793D-EE04-581A275D4B7A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30723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984A-F101-A811-C55C-EEC36C9E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DC74F66-B9AD-A625-03F8-DECE2818C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C9E9AEA-F9B1-9100-EF14-EC6E64D68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3EB4CED-AB18-FE2F-1062-98056CC3535A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2C5-4FDC-A758-5114-054741B003D0}"/>
              </a:ext>
            </a:extLst>
          </p:cNvPr>
          <p:cNvSpPr txBox="1"/>
          <p:nvPr/>
        </p:nvSpPr>
        <p:spPr>
          <a:xfrm>
            <a:off x="117612" y="1663564"/>
            <a:ext cx="1191220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1E2F13"/>
                </a:solidFill>
              </a:rPr>
              <a:t>The goal of this project is to analyze Shopify sales data in Power BI to uncover meaningful insights into transaction performance, customer purchasing behavior, and long-term customer value. By designing an interactive dashboard, the objective is to help stakeholders identify patterns in revenue generation, customer retention, and engagement trends to support data-driven decision-making.</a:t>
            </a:r>
            <a:endParaRPr lang="en-IN" sz="1700" dirty="0">
              <a:solidFill>
                <a:srgbClr val="1E2F13"/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99483A0-3D4B-00AE-435C-56FCE4C154BA}"/>
              </a:ext>
            </a:extLst>
          </p:cNvPr>
          <p:cNvSpPr txBox="1"/>
          <p:nvPr/>
        </p:nvSpPr>
        <p:spPr>
          <a:xfrm>
            <a:off x="117612" y="29053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BC0BB-58ED-19E5-56DE-0F3616FE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80" y="3488767"/>
            <a:ext cx="10401045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1E2F13"/>
                </a:solidFill>
              </a:rPr>
              <a:t>1. Transactions Performance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1E2F13"/>
                </a:solidFill>
              </a:rPr>
              <a:t>This section focuses on evaluating the overall health and effectiveness of sales operations by tracking: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E2F13"/>
                </a:solidFill>
              </a:rPr>
              <a:t>Net Sales</a:t>
            </a:r>
            <a:r>
              <a:rPr lang="en-US" dirty="0">
                <a:solidFill>
                  <a:srgbClr val="1E2F13"/>
                </a:solidFill>
              </a:rPr>
              <a:t>: Total revenue generated before tax.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E2F13"/>
                </a:solidFill>
              </a:rPr>
              <a:t>Total Quantity</a:t>
            </a:r>
            <a:r>
              <a:rPr lang="en-US" dirty="0">
                <a:solidFill>
                  <a:srgbClr val="1E2F13"/>
                </a:solidFill>
              </a:rPr>
              <a:t>: The cumulative number of products sold.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E2F13"/>
                </a:solidFill>
              </a:rPr>
              <a:t>Net Avg Order Value</a:t>
            </a:r>
            <a:r>
              <a:rPr lang="en-US" dirty="0">
                <a:solidFill>
                  <a:srgbClr val="1E2F13"/>
                </a:solidFill>
              </a:rPr>
              <a:t>: The average revenue per transaction, excluding tax.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4A368F6-D586-83E9-10A2-9C961B45549D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193050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48EB-6BD3-2DA5-FD46-140EA50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C1371EBA-C9BB-ACA1-796C-391C90785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530211EB-2A07-5474-FE04-D67FD707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E8BAA7-7511-ED79-33C6-696BF931FCF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2BF8B10-5981-FE47-682E-F49621B727C2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4FD46D-1D90-9177-98E8-E4EA6B88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53259"/>
            <a:ext cx="10401045" cy="395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F13"/>
                </a:solidFill>
              </a:rPr>
              <a:t>2. Customer Purchase Behavior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1E2F13"/>
                </a:solidFill>
              </a:rPr>
              <a:t>Understanding how customers interact with the business is critical. This section highlights: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Total Customers</a:t>
            </a:r>
            <a:r>
              <a:rPr lang="en-US" sz="1600" dirty="0">
                <a:solidFill>
                  <a:srgbClr val="1E2F13"/>
                </a:solidFill>
              </a:rPr>
              <a:t>: The count of unique buyers.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Single Order Customers</a:t>
            </a:r>
            <a:r>
              <a:rPr lang="en-US" sz="1600" dirty="0">
                <a:solidFill>
                  <a:srgbClr val="1E2F13"/>
                </a:solidFill>
              </a:rPr>
              <a:t>: Customers who placed only one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Repeat Customers</a:t>
            </a:r>
            <a:r>
              <a:rPr lang="en-US" sz="1600" dirty="0">
                <a:solidFill>
                  <a:srgbClr val="1E2F13"/>
                </a:solidFill>
              </a:rPr>
              <a:t>: Customers with more than one order, indicating loyalty.</a:t>
            </a:r>
          </a:p>
          <a:p>
            <a:pPr>
              <a:lnSpc>
                <a:spcPct val="150000"/>
              </a:lnSpc>
            </a:pPr>
            <a:endParaRPr lang="en-US" sz="900" dirty="0">
              <a:solidFill>
                <a:srgbClr val="1E2F13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F13"/>
                </a:solidFill>
              </a:rPr>
              <a:t>3. Retention &amp; Value KPIs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1E2F13"/>
                </a:solidFill>
              </a:rPr>
              <a:t>To evaluate long-term growth and customer value, this section includes: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Lifetime Value (LTV)</a:t>
            </a:r>
            <a:r>
              <a:rPr lang="en-US" sz="1600" dirty="0">
                <a:solidFill>
                  <a:srgbClr val="1E2F13"/>
                </a:solidFill>
              </a:rPr>
              <a:t>: The total revenue generated by a customer over time.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Repeat Rate</a:t>
            </a:r>
            <a:r>
              <a:rPr lang="en-US" sz="1600" dirty="0">
                <a:solidFill>
                  <a:srgbClr val="1E2F13"/>
                </a:solidFill>
              </a:rPr>
              <a:t>: The percentage of customers who return to make another purchase.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Purchase Frequency</a:t>
            </a:r>
            <a:r>
              <a:rPr lang="en-US" sz="1600" dirty="0">
                <a:solidFill>
                  <a:srgbClr val="1E2F13"/>
                </a:solidFill>
              </a:rPr>
              <a:t>: How often customers place orders, on average.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1A3CF47-6218-3F38-3382-F45CC4399E55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127192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C766-0370-D577-D92C-9B0CDF73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F0C3C29-57F3-7A5D-983A-8AB55D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740920B-FA56-35F1-CA08-5B9F438B9244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01470AB-646A-8724-632E-D0FBA3F7180D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880D2-C645-C558-2520-6DAFDCA8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30644"/>
            <a:ext cx="10401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1E2F13"/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rgbClr val="1E2F13"/>
                </a:solidFill>
              </a:rPr>
              <a:t>measure selector</a:t>
            </a:r>
            <a:r>
              <a:rPr lang="en-US" sz="1400" i="1" dirty="0">
                <a:solidFill>
                  <a:srgbClr val="1E2F13"/>
                </a:solidFill>
              </a:rPr>
              <a:t> for: </a:t>
            </a:r>
            <a:r>
              <a:rPr lang="en-US" sz="1400" b="1" i="1" dirty="0">
                <a:solidFill>
                  <a:srgbClr val="1E2F13"/>
                </a:solidFill>
              </a:rPr>
              <a:t>Net Sales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Total Quantity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Total Customers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Repeat Customers</a:t>
            </a:r>
            <a:endParaRPr lang="en-US" sz="1400" i="1" dirty="0">
              <a:solidFill>
                <a:srgbClr val="1E2F13"/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AAADD5F-B7A1-DEFC-8407-FFE76AD2B3E7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2C69C-8272-9326-34D4-52F2A80D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485145"/>
            <a:ext cx="10401045" cy="385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rgbClr val="1E2F13"/>
                </a:solidFill>
                <a:latin typeface="Arial" panose="020B0604020202020204" pitchFamily="34" charset="0"/>
              </a:rPr>
              <a:t>1. </a:t>
            </a:r>
            <a:r>
              <a:rPr lang="en-US" sz="1600" b="1" dirty="0">
                <a:solidFill>
                  <a:srgbClr val="1E2F13"/>
                </a:solidFill>
              </a:rPr>
              <a:t>Regional Overview - Province and Cities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1E2F1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Filled Map (Province-Level)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1E2F13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Display province-wise performance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color saturation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 based on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Interactivity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Changes dynamically with the measure selector.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solidFill>
                  <a:srgbClr val="1E2F13"/>
                </a:solidFill>
                <a:latin typeface="Arial" panose="020B0604020202020204" pitchFamily="34" charset="0"/>
              </a:rPr>
              <a:t>Bubble Map / Density Map (City Level)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Visually represent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sales or customer density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 at a more granular level.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Bubble Size or Heat Intensity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Driven by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Tooltip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Shows all key metrics (Net Sales, Quantity, Total Customers, Repeat Customers).</a:t>
            </a:r>
          </a:p>
          <a:p>
            <a:pPr marL="285750"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solidFill>
                  <a:srgbClr val="1E2F13"/>
                </a:solidFill>
                <a:latin typeface="Arial" panose="020B0604020202020204" pitchFamily="34" charset="0"/>
              </a:rPr>
              <a:t>Bar Chart (City-Level Performance)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top-performing cities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 based on the selected KPI.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Sorted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Descending order by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E2F13"/>
                </a:solidFill>
                <a:effectLst/>
                <a:latin typeface="Arial" panose="020B0604020202020204" pitchFamily="34" charset="0"/>
              </a:rPr>
              <a:t>: Interacts with slicers/filters and responds to the KPI selector.</a:t>
            </a:r>
          </a:p>
        </p:txBody>
      </p:sp>
    </p:spTree>
    <p:extLst>
      <p:ext uri="{BB962C8B-B14F-4D97-AF65-F5344CB8AC3E}">
        <p14:creationId xmlns:p14="http://schemas.microsoft.com/office/powerpoint/2010/main" val="2162797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4DCF-9E18-B681-8771-59270BF0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3E4D4D1-CCA3-68E0-36B1-09AE9AEA9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8DB107C-5893-1162-339A-F20E947FBF58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5A4F498-C428-6477-9781-40900DB6B62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680813-C92B-2E86-842B-A1AF48EC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30644"/>
            <a:ext cx="10401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D893B7F-5513-02B5-849E-F3B7C1439670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30C88-FE59-D256-D20A-20293CF5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352441"/>
            <a:ext cx="10401045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rgbClr val="1E2F13"/>
                </a:solidFill>
                <a:latin typeface="Arial" panose="020B0604020202020204" pitchFamily="34" charset="0"/>
              </a:rPr>
              <a:t>2. </a:t>
            </a:r>
            <a:r>
              <a:rPr lang="en-US" sz="1600" b="1" dirty="0">
                <a:solidFill>
                  <a:srgbClr val="1E2F13"/>
                </a:solidFill>
              </a:rPr>
              <a:t>Sales Trend Over Time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1E2F13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1E2F13"/>
                </a:solidFill>
              </a:rPr>
              <a:t>Area Chart – Trend by Day</a:t>
            </a:r>
            <a:endParaRPr lang="en-US" sz="1600" dirty="0">
              <a:solidFill>
                <a:srgbClr val="1E2F13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Purpose</a:t>
            </a:r>
            <a:r>
              <a:rPr lang="en-US" sz="1600" dirty="0">
                <a:solidFill>
                  <a:srgbClr val="1E2F13"/>
                </a:solidFill>
              </a:rPr>
              <a:t>: Show the </a:t>
            </a:r>
            <a:r>
              <a:rPr lang="en-US" sz="1600" b="1" dirty="0">
                <a:solidFill>
                  <a:srgbClr val="1E2F13"/>
                </a:solidFill>
              </a:rPr>
              <a:t>daily trend</a:t>
            </a:r>
            <a:r>
              <a:rPr lang="en-US" sz="1600" dirty="0">
                <a:solidFill>
                  <a:srgbClr val="1E2F13"/>
                </a:solidFill>
              </a:rPr>
              <a:t> of the selected measure (e.g., daily Net Sales or daily Repeat Customers).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Interactivity</a:t>
            </a:r>
            <a:r>
              <a:rPr lang="en-US" sz="1600" dirty="0">
                <a:solidFill>
                  <a:srgbClr val="1E2F13"/>
                </a:solidFill>
              </a:rPr>
              <a:t>: Changes dynamically based on the selected measure.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E2F13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1E2F13"/>
                </a:solidFill>
              </a:rPr>
              <a:t>Bar Chart or Line Chart – Trend by Hour</a:t>
            </a:r>
            <a:endParaRPr lang="en-US" sz="1600" dirty="0">
              <a:solidFill>
                <a:srgbClr val="1E2F13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Purpose</a:t>
            </a:r>
            <a:r>
              <a:rPr lang="en-US" sz="1600" dirty="0">
                <a:solidFill>
                  <a:srgbClr val="1E2F13"/>
                </a:solidFill>
              </a:rPr>
              <a:t>: Display </a:t>
            </a:r>
            <a:r>
              <a:rPr lang="en-US" sz="1600" b="1" dirty="0">
                <a:solidFill>
                  <a:srgbClr val="1E2F13"/>
                </a:solidFill>
              </a:rPr>
              <a:t>sales or customer activity by hour of the day</a:t>
            </a:r>
            <a:r>
              <a:rPr lang="en-US" sz="1600" dirty="0">
                <a:solidFill>
                  <a:srgbClr val="1E2F13"/>
                </a:solidFill>
              </a:rPr>
              <a:t> (e.g., 0–23 </a:t>
            </a:r>
            <a:r>
              <a:rPr lang="en-US" sz="1600" dirty="0" err="1">
                <a:solidFill>
                  <a:srgbClr val="1E2F13"/>
                </a:solidFill>
              </a:rPr>
              <a:t>hrs</a:t>
            </a:r>
            <a:r>
              <a:rPr lang="en-US" sz="1600" dirty="0">
                <a:solidFill>
                  <a:srgbClr val="1E2F13"/>
                </a:solidFill>
              </a:rPr>
              <a:t>), revealing peak activity periods</a:t>
            </a:r>
            <a:r>
              <a:rPr lang="en-US" sz="1400" dirty="0">
                <a:solidFill>
                  <a:srgbClr val="1E2F13"/>
                </a:solidFill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1E2F13"/>
                </a:solidFill>
              </a:rPr>
              <a:t>Use Case: </a:t>
            </a:r>
            <a:r>
              <a:rPr lang="en-US" sz="1600" dirty="0">
                <a:solidFill>
                  <a:srgbClr val="1E2F13"/>
                </a:solidFill>
              </a:rPr>
              <a:t>Helps understand time-of-day behavior, useful for marketing or operational timing decisions.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E2F13"/>
              </a:solidFill>
            </a:endParaRPr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F0940AB8-41CE-72F6-E787-2132E6E6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19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92198-E117-B76A-6D8D-BA6E5252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8760FD0-0501-737A-3476-C71426D46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8F75B4D-BB2D-1BCA-4C3D-652354C66F0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E7552EE-24C9-473F-2B00-2A379E2B8DCC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52EFE-A6A0-07B3-89DE-2793908F1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30644"/>
            <a:ext cx="10401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/>
              <a:t>This section will support dynamic analysis using a </a:t>
            </a:r>
            <a:r>
              <a:rPr lang="en-US" sz="1400" b="1" i="1" dirty="0"/>
              <a:t>measure selector</a:t>
            </a:r>
            <a:r>
              <a:rPr lang="en-US" sz="1400" i="1" dirty="0"/>
              <a:t> for: </a:t>
            </a:r>
            <a:r>
              <a:rPr lang="en-US" sz="1400" b="1" i="1" dirty="0"/>
              <a:t>Net Sales</a:t>
            </a:r>
            <a:r>
              <a:rPr lang="en-US" sz="1400" i="1" dirty="0"/>
              <a:t>, </a:t>
            </a:r>
            <a:r>
              <a:rPr lang="en-US" sz="1400" b="1" i="1" dirty="0"/>
              <a:t>Total Quantity</a:t>
            </a:r>
            <a:r>
              <a:rPr lang="en-US" sz="1400" i="1" dirty="0"/>
              <a:t>, </a:t>
            </a:r>
            <a:r>
              <a:rPr lang="en-US" sz="1400" b="1" i="1" dirty="0"/>
              <a:t>Total Customers</a:t>
            </a:r>
            <a:r>
              <a:rPr lang="en-US" sz="1400" i="1" dirty="0"/>
              <a:t>, </a:t>
            </a:r>
            <a:r>
              <a:rPr lang="en-US" sz="1400" b="1" i="1" dirty="0"/>
              <a:t>Repeat Customers</a:t>
            </a:r>
            <a:endParaRPr lang="en-US" sz="1400" i="1"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7EA81F-7691-12F9-0EA8-DA6F680047CB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08928-9CA2-C962-6661-E9C99765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612625"/>
            <a:ext cx="10401045" cy="2690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latin typeface="Arial" panose="020B0604020202020204" pitchFamily="34" charset="0"/>
              </a:rPr>
              <a:t>3. Gateway Payment Method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Identify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most and least used payment methods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preferences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regions or campaigns.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anose="020B0604020202020204" pitchFamily="34" charset="0"/>
              </a:rPr>
              <a:t>4. Product Type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Determine which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product types generate the highest revenue and order volume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Understand how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engagement varies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different product categories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C88E8016-E68C-4581-9191-38E7B114A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67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E568-F532-40EA-D690-C7B5F020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FCAF03D-9893-2AD5-B791-ACF53122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BA245D8-5A5F-A0D3-F8BF-67F2135780CB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1E2F13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B67BDD5-5235-CB48-1BED-958CBA99BE5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9393B4-520E-79E7-01E8-BF4E657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30644"/>
            <a:ext cx="10401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rgbClr val="1E2F13"/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rgbClr val="1E2F13"/>
                </a:solidFill>
              </a:rPr>
              <a:t>measure selector</a:t>
            </a:r>
            <a:r>
              <a:rPr lang="en-US" sz="1400" i="1" dirty="0">
                <a:solidFill>
                  <a:srgbClr val="1E2F13"/>
                </a:solidFill>
              </a:rPr>
              <a:t> for: </a:t>
            </a:r>
            <a:r>
              <a:rPr lang="en-US" sz="1400" b="1" i="1" dirty="0">
                <a:solidFill>
                  <a:srgbClr val="1E2F13"/>
                </a:solidFill>
              </a:rPr>
              <a:t>Net Sales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Total Quantity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Total Customers</a:t>
            </a:r>
            <a:r>
              <a:rPr lang="en-US" sz="1400" i="1" dirty="0">
                <a:solidFill>
                  <a:srgbClr val="1E2F13"/>
                </a:solidFill>
              </a:rPr>
              <a:t>, </a:t>
            </a:r>
            <a:r>
              <a:rPr lang="en-US" sz="1400" b="1" i="1" dirty="0">
                <a:solidFill>
                  <a:srgbClr val="1E2F13"/>
                </a:solidFill>
              </a:rPr>
              <a:t>Repeat Customers</a:t>
            </a:r>
            <a:endParaRPr lang="en-US" sz="1400" i="1" dirty="0">
              <a:solidFill>
                <a:srgbClr val="1E2F13"/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EE4E096-29C3-235B-D5E5-253A7D37545F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476BE980-794F-5EAE-6900-1FBDD443C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TextBox 12">
            <a:extLst>
              <a:ext uri="{FF2B5EF4-FFF2-40B4-BE49-F238E27FC236}">
                <a16:creationId xmlns:a16="http://schemas.microsoft.com/office/drawing/2014/main" id="{1DE8BCF5-F1D0-CEF6-FE2A-6BBFD38DE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043958"/>
              </p:ext>
            </p:extLst>
          </p:nvPr>
        </p:nvGraphicFramePr>
        <p:xfrm>
          <a:off x="262828" y="2818825"/>
          <a:ext cx="11129071" cy="1703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921544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731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Arial Rounded MT Bold</vt:lpstr>
      <vt:lpstr>Calibri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sai Lakshmi</cp:lastModifiedBy>
  <cp:revision>12</cp:revision>
  <dcterms:created xsi:type="dcterms:W3CDTF">2025-05-11T09:17:40Z</dcterms:created>
  <dcterms:modified xsi:type="dcterms:W3CDTF">2025-11-07T04:02:52Z</dcterms:modified>
</cp:coreProperties>
</file>